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GBP</c:v>
                </c:pt>
              </c:strCache>
            </c:strRef>
          </c:tx>
          <c:spPr>
            <a:solidFill>
              <a:srgbClr val="02C39A"/>
            </a:solidFill>
            <a:ln w="3556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Jan-10</c:v>
                  </c:pt>
                  <c:pt idx="1">
                    <c:v>Feb-10</c:v>
                  </c:pt>
                  <c:pt idx="2">
                    <c:v>Mar-10</c:v>
                  </c:pt>
                  <c:pt idx="3">
                    <c:v>Apr-10</c:v>
                  </c:pt>
                  <c:pt idx="4">
                    <c:v>May-10</c:v>
                  </c:pt>
                  <c:pt idx="5">
                    <c:v>Jun-10</c:v>
                  </c:pt>
                  <c:pt idx="6">
                    <c:v>Jul-10</c:v>
                  </c:pt>
                  <c:pt idx="7">
                    <c:v>Aug-10</c:v>
                  </c:pt>
                  <c:pt idx="8">
                    <c:v>Sep-10</c:v>
                  </c:pt>
                  <c:pt idx="9">
                    <c:v>Oct-10</c:v>
                  </c:pt>
                  <c:pt idx="10">
                    <c:v>Nov-10</c:v>
                  </c:pt>
                  <c:pt idx="11">
                    <c:v>Dec-10</c:v>
                  </c:pt>
                  <c:pt idx="12">
                    <c:v>Jan-11</c:v>
                  </c:pt>
                  <c:pt idx="13">
                    <c:v>Feb-11</c:v>
                  </c:pt>
                  <c:pt idx="14">
                    <c:v>Mar-11</c:v>
                  </c:pt>
                  <c:pt idx="15">
                    <c:v>Apr-11</c:v>
                  </c:pt>
                  <c:pt idx="16">
                    <c:v>May-11</c:v>
                  </c:pt>
                  <c:pt idx="17">
                    <c:v>Jun-11</c:v>
                  </c:pt>
                  <c:pt idx="18">
                    <c:v>Jul-11</c:v>
                  </c:pt>
                  <c:pt idx="19">
                    <c:v>Aug-11</c:v>
                  </c:pt>
                  <c:pt idx="20">
                    <c:v>Sep-11</c:v>
                  </c:pt>
                  <c:pt idx="21">
                    <c:v>Oct-11</c:v>
                  </c:pt>
                  <c:pt idx="22">
                    <c:v>Nov-11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820000</c:v>
                </c:pt>
                <c:pt idx="1">
                  <c:v>620000</c:v>
                </c:pt>
                <c:pt idx="2">
                  <c:v>740000</c:v>
                </c:pt>
                <c:pt idx="3">
                  <c:v>680000</c:v>
                </c:pt>
                <c:pt idx="4">
                  <c:v>680000</c:v>
                </c:pt>
                <c:pt idx="5">
                  <c:v>710000</c:v>
                </c:pt>
                <c:pt idx="6">
                  <c:v>675000</c:v>
                </c:pt>
                <c:pt idx="7">
                  <c:v>712000</c:v>
                </c:pt>
                <c:pt idx="8">
                  <c:v>820000</c:v>
                </c:pt>
                <c:pt idx="9">
                  <c:v>1050000</c:v>
                </c:pt>
                <c:pt idx="10">
                  <c:v>1480000</c:v>
                </c:pt>
                <c:pt idx="11">
                  <c:v>760000</c:v>
                </c:pt>
                <c:pt idx="12">
                  <c:v>520000</c:v>
                </c:pt>
                <c:pt idx="13">
                  <c:v>490000</c:v>
                </c:pt>
                <c:pt idx="14">
                  <c:v>630000</c:v>
                </c:pt>
                <c:pt idx="15">
                  <c:v>550000</c:v>
                </c:pt>
                <c:pt idx="16">
                  <c:v>580000</c:v>
                </c:pt>
                <c:pt idx="17">
                  <c:v>620000</c:v>
                </c:pt>
                <c:pt idx="18">
                  <c:v>740000</c:v>
                </c:pt>
                <c:pt idx="19">
                  <c:v>770000</c:v>
                </c:pt>
                <c:pt idx="20">
                  <c:v>990000</c:v>
                </c:pt>
                <c:pt idx="21">
                  <c:v>1150000</c:v>
                </c:pt>
                <c:pt idx="22">
                  <c:v>1210000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044"/>
        </a:solidFill>
        <a:ln>
          <a:noFill/>
        </a:ln>
        <a:effectLst/>
      </c:spPr>
    </c:plotArea>
    <c:plotVisOnly val="1"/>
    <c:dispBlanksAs val="span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0F4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62.5</c:v>
                </c:pt>
                <c:pt idx="1">
                  <c:v>13.2</c:v>
                </c:pt>
                <c:pt idx="2">
                  <c:v>7.8</c:v>
                </c:pt>
                <c:pt idx="3">
                  <c:v>5.1</c:v>
                </c:pt>
                <c:pt idx="4">
                  <c:v>3.8</c:v>
                </c:pt>
                <c:pt idx="5">
                  <c:v>2.9</c:v>
                </c:pt>
                <c:pt idx="6">
                  <c:v>2.1</c:v>
                </c:pt>
                <c:pt idx="7">
                  <c:v>1.5</c:v>
                </c:pt>
                <c:pt idx="8">
                  <c:v>0.8</c:v>
                </c:pt>
                <c:pt idx="9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0F4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044"/>
        </a:solidFill>
        <a:ln>
          <a:noFill/>
        </a:ln>
        <a:effectLst/>
      </c:spPr>
    </c:plotArea>
    <c:plotVisOnly val="1"/>
    <c:dispBlanksAs val="span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0F4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9B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48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4855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Champions</c:v>
                  </c:pt>
                  <c:pt idx="1">
                    <c:v>Hibernating</c:v>
                  </c:pt>
                  <c:pt idx="2">
                    <c:v>At Risk</c:v>
                  </c:pt>
                  <c:pt idx="3">
                    <c:v>Need Attention</c:v>
                  </c:pt>
                  <c:pt idx="4">
                    <c:v>Loyal Customers</c:v>
                  </c:pt>
                  <c:pt idx="5">
                    <c:v>Potential Loyalists</c:v>
                  </c:pt>
                  <c:pt idx="6">
                    <c:v>New Customers</c:v>
                  </c:pt>
                  <c:pt idx="7">
                    <c:v>Cannot Lose Them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1290</c:v>
                </c:pt>
                <c:pt idx="1">
                  <c:v>1282</c:v>
                </c:pt>
                <c:pt idx="2">
                  <c:v>846</c:v>
                </c:pt>
                <c:pt idx="3">
                  <c:v>766</c:v>
                </c:pt>
                <c:pt idx="4">
                  <c:v>656</c:v>
                </c:pt>
                <c:pt idx="5">
                  <c:v>580</c:v>
                </c:pt>
                <c:pt idx="6">
                  <c:v>235</c:v>
                </c:pt>
                <c:pt idx="7">
                  <c:v>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0F4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CCE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Retention %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0F4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356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A356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A356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A356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A356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A3560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38</c:v>
                </c:pt>
                <c:pt idx="2">
                  <c:v>28</c:v>
                </c:pt>
                <c:pt idx="3">
                  <c:v>24</c:v>
                </c:pt>
                <c:pt idx="4">
                  <c:v>22</c:v>
                </c:pt>
                <c:pt idx="5">
                  <c:v>20</c:v>
                </c:pt>
                <c:pt idx="6">
                  <c:v>19</c:v>
                </c:pt>
                <c:pt idx="7">
                  <c:v>18</c:v>
                </c:pt>
                <c:pt idx="8">
                  <c:v>17</c:v>
                </c:pt>
                <c:pt idx="9">
                  <c:v>16</c:v>
                </c:pt>
                <c:pt idx="10">
                  <c:v>15</c:v>
                </c:pt>
                <c:pt idx="11">
                  <c:v>14</c:v>
                </c:pt>
                <c:pt idx="1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0F4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CCE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044"/>
        </a:solidFill>
        <a:ln>
          <a:noFill/>
        </a:ln>
        <a:effectLst/>
      </c:spPr>
    </c:plotArea>
    <c:plotVisOnly val="1"/>
    <c:dispBlanksAs val="span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1A3560"/>
              </a:solidFill>
              <a:effectLst/>
            </c:spPr>
          </c:dPt>
          <c:dPt>
            <c:idx val="3"/>
            <c:bubble3D val="0"/>
            <c:spPr>
              <a:solidFill>
                <a:srgbClr val="2C3E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High-Value Champions</c:v>
                </c:pt>
                <c:pt idx="1">
                  <c:v>Recent Growth</c:v>
                </c:pt>
                <c:pt idx="2">
                  <c:v>Lapsed Established</c:v>
                </c:pt>
                <c:pt idx="3">
                  <c:v>Dormant Low-Value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74</c:v>
                </c:pt>
                <c:pt idx="1">
                  <c:v>6.15</c:v>
                </c:pt>
                <c:pt idx="2">
                  <c:v>16.3</c:v>
                </c:pt>
                <c:pt idx="3">
                  <c:v>3.56</c:v>
                </c:pt>
              </c:numCache>
            </c:numRef>
          </c:val>
        </c:ser>
        <c:firstSliceAng val="0"/>
        <c:holeSize val="50"/>
      </c:doughnutChart>
      <c:spPr>
        <a:solidFill>
          <a:srgbClr val="0A1628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B8CCE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0F4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485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A9BB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Raw lines</c:v>
                  </c:pt>
                  <c:pt idx="1">
                    <c:v>Unique lines</c:v>
                  </c:pt>
                  <c:pt idx="2">
                    <c:v>Completed rows</c:v>
                  </c:pt>
                  <c:pt idx="3">
                    <c:v>Anonymous rows</c:v>
                  </c:pt>
                  <c:pt idx="4">
                    <c:v>Return rows</c:v>
                  </c:pt>
                  <c:pt idx="5">
                    <c:v>Duplicates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1067371</c:v>
                </c:pt>
                <c:pt idx="1">
                  <c:v>1033036</c:v>
                </c:pt>
                <c:pt idx="2">
                  <c:v>1041670</c:v>
                </c:pt>
                <c:pt idx="3">
                  <c:v>243007</c:v>
                </c:pt>
                <c:pt idx="4">
                  <c:v>22951</c:v>
                </c:pt>
                <c:pt idx="5">
                  <c:v>34335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0F4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CCE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044"/>
        </a:solidFill>
        <a:ln>
          <a:noFill/>
        </a:ln>
        <a:effectLst/>
      </c:spPr>
    </c:plotArea>
    <c:plotVisOnly val="1"/>
    <c:dispBlanksAs val="span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Mention this is an individual internship project at DMV CoreTech, June–July 2026. All outputs are live and publicly accessible.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numbers. 72.39% repeat rate is the standout KPI — signal strong retention. Data quality was a deliberate design decision, not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raw data ≠ intelligence. Every recommendation later links back to one of these four problem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 areas. Emphasise the combination: quality validation + customer intelligence + automated tests = professional-grade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6-phase pipeline. Ingest and Analyse are highlighted because data quality phase is what separates this project from typical student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GBP 17.37M of the GBP 20.48M comes from identified customers — good evidence the anonymous row separation was worth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peaks in Oct-Nov (seasonal). Decile chart shows Pareto concentration — top 10% drives 62.5%. Both charts support the Champions-first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Champions (1,290) and Hibernating (1,282) are nearly equal — opposite business meaning. Hibernating need reactivation; Champions need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steep Month 0→1 drop is the key insight. A 30-day post-purchase re-engagement email sequence is the direct recommendation from this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 0.997 = near-perfect stability. The headline: 20.48% of customers = 74% of revenue. Action tags (Protect/Nurture/Re-engage/Monitor) make this instantly actionable.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separates a professional project from a student submission — treating data quality as part of the business problem, not just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recommendation links to a specific number. Rec 1 = clustering result. Rec 2 = RFM counts. Rec 3 = cohort Month 1 drop. Rec 4 = anonymous row rate. Rec 5 = quality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assets are ready and live. The GitHub repo link and Streamlit app are both publicly accessible. The report is 16 pages with full TOC, visuals, and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headline numbers. Invite questions. Streamlit app is live — offer to demo it if there's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Relationship Id="rId10" Type="http://schemas.openxmlformats.org/officeDocument/2006/relationships/hyperlink" Target="https://github.com/ramakrishnareddy2112/Retail-Customer-Intelligence-Analytics" TargetMode="External"/><Relationship Id="rId11" Type="http://schemas.openxmlformats.org/officeDocument/2006/relationships/hyperlink" Target="https://retail-customer-intelligence-analytics.streamlit.app/" TargetMode="Externa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Relationship Id="rId10" Type="http://schemas.openxmlformats.org/officeDocument/2006/relationships/hyperlink" Target="https://github.com/ramakrishnareddy2112/Retail-Customer-Intelligence-Analytics" TargetMode="External"/><Relationship Id="rId11" Type="http://schemas.openxmlformats.org/officeDocument/2006/relationships/hyperlink" Target="https://retail-customer-intelligence-analytics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029200"/>
          </a:xfrm>
          <a:prstGeom prst="ellipse">
            <a:avLst/>
          </a:prstGeom>
          <a:solidFill>
            <a:srgbClr val="028090">
              <a:alpha val="12000"/>
            </a:srgbClr>
          </a:solidFill>
          <a:ln w="1905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1680" y="0"/>
            <a:ext cx="2560320" cy="2560320"/>
          </a:xfrm>
          <a:prstGeom prst="ellipse">
            <a:avLst/>
          </a:prstGeom>
          <a:solidFill>
            <a:srgbClr val="F5A623">
              <a:alpha val="14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5029200"/>
            <a:ext cx="1828800" cy="1828800"/>
          </a:xfrm>
          <a:prstGeom prst="ellipse">
            <a:avLst/>
          </a:prstGeom>
          <a:solidFill>
            <a:srgbClr val="028090">
              <a:alpha val="10000"/>
            </a:srgbClr>
          </a:solidFill>
          <a:ln w="1016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28600" cy="68580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Customer Intelligence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Retention Analytics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1645920" cy="64008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78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Project  ·  DMV CoreTech  ·  June – July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8229600" cy="1737360"/>
          </a:xfrm>
          <a:prstGeom prst="roundRect">
            <a:avLst>
              <a:gd name="adj" fmla="val 6818"/>
            </a:avLst>
          </a:prstGeom>
          <a:solidFill>
            <a:srgbClr val="0F2044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3209352"/>
            <a:ext cx="7735824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Student: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Pothamsetti Venkata Rama Krishna Reddy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Student ID: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23CS002715   B.Tech CSE – Data Science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Institution: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Padampat Singhania University, Udaipur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Mentor: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 Angothu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603504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035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40280" y="603504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6035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77640" y="603504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6035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15000" y="603504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6035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52360" y="603504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6035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89720" y="603504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6035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slow" p14:dur="900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DELIVERS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Snapshot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analytics pipeline that converts raw Online Retail II transactions into validated KPIs, customer segments, retention evidence, clustering outputs, and deployable dashboards.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2743200" cy="1691640"/>
          </a:xfrm>
          <a:prstGeom prst="roundRect">
            <a:avLst>
              <a:gd name="adj" fmla="val 864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1912" y="1719072"/>
            <a:ext cx="402336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470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GBP 20.48M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completed-sales value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7797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post-deduplication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719072"/>
            <a:ext cx="2743200" cy="1691640"/>
          </a:xfrm>
          <a:prstGeom prst="roundRect">
            <a:avLst>
              <a:gd name="adj" fmla="val 864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719072"/>
            <a:ext cx="402336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470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40,077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orders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27797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sales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1719072"/>
            <a:ext cx="2743200" cy="1691640"/>
          </a:xfrm>
          <a:prstGeom prst="roundRect">
            <a:avLst>
              <a:gd name="adj" fmla="val 864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34072" y="1719072"/>
            <a:ext cx="402336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8470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5,878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3640" y="2468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customers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27797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anonymous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89720" y="1719072"/>
            <a:ext cx="2743200" cy="1691640"/>
          </a:xfrm>
          <a:prstGeom prst="roundRect">
            <a:avLst>
              <a:gd name="adj" fmla="val 864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360152" y="1719072"/>
            <a:ext cx="402336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18470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72.39%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89720" y="2468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rate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89720" y="27797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retention signal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566160"/>
            <a:ext cx="11338560" cy="2606040"/>
          </a:xfrm>
          <a:prstGeom prst="roundRect">
            <a:avLst>
              <a:gd name="adj" fmla="val 5263"/>
            </a:avLst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3703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Project Highlights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85800" y="4169664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41330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 quality first: </a:t>
            </a:r>
            <a:pPr indent="0" marL="0">
              <a:buNone/>
            </a:pPr>
            <a:r>
              <a:rPr lang="en-US" sz="11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returns, anonymous rows, and partial months were all treated as a distinct analytical phase — not discarded blindly.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482803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479145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Customer intelligence: </a:t>
            </a:r>
            <a:pPr indent="0" marL="0">
              <a:buNone/>
            </a:pPr>
            <a:r>
              <a:rPr lang="en-US" sz="11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segmentation, cohort retention, and K-Means clustering move the project beyond basic reporting to actionable customer strategy.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548640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" y="544982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Fully deployed: </a:t>
            </a:r>
            <a:pPr indent="0" marL="0">
              <a:buNone/>
            </a:pPr>
            <a:r>
              <a:rPr lang="en-US" sz="11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repository, live Streamlit app, Power BI dashboards, and a formal 16-page report are all submitted as project deliverables.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12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0"/>
            <a:ext cx="4572000" cy="45720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3200400" cy="3200400"/>
          </a:xfrm>
          <a:prstGeom prst="ellipse">
            <a:avLst/>
          </a:prstGeom>
          <a:solidFill>
            <a:srgbClr val="02C39A">
              <a:alpha val="8000"/>
            </a:srgbClr>
          </a:solidFill>
          <a:ln w="1016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486400" cy="5074920"/>
          </a:xfrm>
          <a:prstGeom prst="roundRect">
            <a:avLst>
              <a:gd name="adj" fmla="val 2883"/>
            </a:avLst>
          </a:prstGeom>
          <a:solidFill>
            <a:srgbClr val="0F2044"/>
          </a:solidFill>
          <a:ln w="15240">
            <a:solidFill>
              <a:srgbClr val="E848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3533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8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transaction data is valuable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when it answers business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clearly.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256032" cy="25603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416" y="27614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sales are valid after returns and cancellations?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447288"/>
            <a:ext cx="256032" cy="25603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34198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should receive retention focus?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105656"/>
            <a:ext cx="256032" cy="25603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2416" y="40782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is concentrated in high-value groups?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764024"/>
            <a:ext cx="256032" cy="25603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64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2416" y="4736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data-quality issues distort decision-making?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188720"/>
            <a:ext cx="5486400" cy="5074920"/>
          </a:xfrm>
          <a:prstGeom prst="roundRect">
            <a:avLst>
              <a:gd name="adj" fmla="val 2883"/>
            </a:avLst>
          </a:prstGeom>
          <a:solidFill>
            <a:srgbClr val="0F2044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10528" y="13533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Direction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0528" y="1737360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reproducible analytics system that validates data, models transactions, segments customers, monitors retention, evaluates clusters, and publishes results through dashboards.</a:t>
            </a:r>
            <a:endParaRPr lang="en-US" sz="12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2916936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03720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star schema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03720" y="3136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dimension tables for SQL analysis</a:t>
            </a:r>
            <a:endParaRPr lang="en-US" sz="10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575304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03720" y="3538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intelligence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903720" y="3794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+ cohort retention</a:t>
            </a:r>
            <a:endParaRPr lang="en-US" sz="10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233672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03720" y="4197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903720" y="4453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with stability checks</a:t>
            </a:r>
            <a:endParaRPr lang="en-US" sz="105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892040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03720" y="48554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903720" y="5111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+ Power BI exports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Features and Deliverables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3749040" cy="2487168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35024"/>
            <a:ext cx="530352" cy="5303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5389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" y="20116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34,335 exact duplicates removed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2648" y="23957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customer rows separated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" y="277977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cancellations classified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2648" y="316382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month (Dec 2011) labelled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25112" y="1170432"/>
            <a:ext cx="3749040" cy="2487168"/>
          </a:xfrm>
          <a:prstGeom prst="roundRect">
            <a:avLst>
              <a:gd name="adj" fmla="val 588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07992" y="133502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453896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48072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Star Schema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26280" y="20116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45736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dimension table model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26280" y="23957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45736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reconciliation checks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526280" y="277977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45736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SQL CSV business outputs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26280" y="316382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45736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query layer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238744" y="1170432"/>
            <a:ext cx="3749040" cy="2487168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421624" y="1335024"/>
            <a:ext cx="530352" cy="5303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1453896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061704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Intelligence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8439912" y="20116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659368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(8 segments)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439912" y="23957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659368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 heatmap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439912" y="277977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659368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revenue decile analysis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439912" y="316382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659368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Repeat-purchase behaviour metrics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411480" y="3867912"/>
            <a:ext cx="3749040" cy="2487168"/>
          </a:xfrm>
          <a:prstGeom prst="roundRect">
            <a:avLst>
              <a:gd name="adj" fmla="val 588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594360" y="403250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51376"/>
            <a:ext cx="274320" cy="27432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234440" y="4069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612648" y="4709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832104" y="4672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K=4 optimal solution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612648" y="509320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32104" y="5056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&amp; Davies-Bouldin scored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612648" y="547725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832104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5-seed ARI stability: 0.997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612648" y="586130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832104" y="5824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cluster interpretation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4325112" y="3867912"/>
            <a:ext cx="3749040" cy="2487168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4507992" y="4032504"/>
            <a:ext cx="530352" cy="5303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4151376"/>
            <a:ext cx="274320" cy="274320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5148072" y="4069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58" name="Shape 51"/>
          <p:cNvSpPr/>
          <p:nvPr/>
        </p:nvSpPr>
        <p:spPr>
          <a:xfrm>
            <a:off x="4526280" y="4709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4745736" y="4672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app deployed</a:t>
            </a:r>
            <a:endParaRPr lang="en-US" sz="1050" dirty="0"/>
          </a:p>
        </p:txBody>
      </p:sp>
      <p:sp>
        <p:nvSpPr>
          <p:cNvPr id="60" name="Shape 53"/>
          <p:cNvSpPr/>
          <p:nvPr/>
        </p:nvSpPr>
        <p:spPr>
          <a:xfrm>
            <a:off x="4526280" y="509320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4745736" y="5056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</a:t>
            </a:r>
            <a:endParaRPr lang="en-US" sz="1050" dirty="0"/>
          </a:p>
        </p:txBody>
      </p:sp>
      <p:sp>
        <p:nvSpPr>
          <p:cNvPr id="62" name="Shape 55"/>
          <p:cNvSpPr/>
          <p:nvPr/>
        </p:nvSpPr>
        <p:spPr>
          <a:xfrm>
            <a:off x="4526280" y="547725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4745736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PNG + 2 Plotly charts</a:t>
            </a:r>
            <a:endParaRPr lang="en-US" sz="1050" dirty="0"/>
          </a:p>
        </p:txBody>
      </p:sp>
      <p:sp>
        <p:nvSpPr>
          <p:cNvPr id="64" name="Shape 57"/>
          <p:cNvSpPr/>
          <p:nvPr/>
        </p:nvSpPr>
        <p:spPr>
          <a:xfrm>
            <a:off x="4526280" y="586130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4745736" y="5824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screenshot exports</a:t>
            </a:r>
            <a:endParaRPr lang="en-US" sz="1050" dirty="0"/>
          </a:p>
        </p:txBody>
      </p:sp>
      <p:sp>
        <p:nvSpPr>
          <p:cNvPr id="66" name="Shape 59"/>
          <p:cNvSpPr/>
          <p:nvPr/>
        </p:nvSpPr>
        <p:spPr>
          <a:xfrm>
            <a:off x="8238744" y="3867912"/>
            <a:ext cx="3749040" cy="2487168"/>
          </a:xfrm>
          <a:prstGeom prst="roundRect">
            <a:avLst>
              <a:gd name="adj" fmla="val 588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7" name="Shape 60"/>
          <p:cNvSpPr/>
          <p:nvPr/>
        </p:nvSpPr>
        <p:spPr>
          <a:xfrm>
            <a:off x="8421624" y="403250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151376"/>
            <a:ext cx="274320" cy="274320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9061704" y="4069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Automation</a:t>
            </a:r>
            <a:endParaRPr lang="en-US" sz="1300" dirty="0"/>
          </a:p>
        </p:txBody>
      </p:sp>
      <p:sp>
        <p:nvSpPr>
          <p:cNvPr id="70" name="Shape 62"/>
          <p:cNvSpPr/>
          <p:nvPr/>
        </p:nvSpPr>
        <p:spPr>
          <a:xfrm>
            <a:off x="8439912" y="4709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8659368" y="4672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automated tests passing</a:t>
            </a:r>
            <a:endParaRPr lang="en-US" sz="1050" dirty="0"/>
          </a:p>
        </p:txBody>
      </p:sp>
      <p:sp>
        <p:nvSpPr>
          <p:cNvPr id="72" name="Shape 64"/>
          <p:cNvSpPr/>
          <p:nvPr/>
        </p:nvSpPr>
        <p:spPr>
          <a:xfrm>
            <a:off x="8439912" y="509320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8659368" y="5056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pipeline</a:t>
            </a:r>
            <a:endParaRPr lang="en-US" sz="1050" dirty="0"/>
          </a:p>
        </p:txBody>
      </p:sp>
      <p:sp>
        <p:nvSpPr>
          <p:cNvPr id="74" name="Shape 66"/>
          <p:cNvSpPr/>
          <p:nvPr/>
        </p:nvSpPr>
        <p:spPr>
          <a:xfrm>
            <a:off x="8439912" y="547725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5" name="Text 67"/>
          <p:cNvSpPr/>
          <p:nvPr/>
        </p:nvSpPr>
        <p:spPr>
          <a:xfrm>
            <a:off x="8659368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reproducible scripts</a:t>
            </a:r>
            <a:endParaRPr lang="en-US" sz="1050" dirty="0"/>
          </a:p>
        </p:txBody>
      </p:sp>
      <p:sp>
        <p:nvSpPr>
          <p:cNvPr id="76" name="Shape 68"/>
          <p:cNvSpPr/>
          <p:nvPr/>
        </p:nvSpPr>
        <p:spPr>
          <a:xfrm>
            <a:off x="8439912" y="586130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7" name="Text 69"/>
          <p:cNvSpPr/>
          <p:nvPr/>
        </p:nvSpPr>
        <p:spPr>
          <a:xfrm>
            <a:off x="8659368" y="5824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validation checks</a:t>
            </a:r>
            <a:endParaRPr lang="en-US" sz="1050" dirty="0"/>
          </a:p>
        </p:txBody>
      </p:sp>
      <p:sp>
        <p:nvSpPr>
          <p:cNvPr id="78" name="Text 70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79" name="Shape 71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0" name="Text 72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3657600" cy="36576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920" y="0"/>
            <a:ext cx="2926080" cy="292608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DECISION SUPPORT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1828800" cy="489204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203200" dist="50800" dir="2700000">
              <a:srgbClr val="02C39A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1335024"/>
            <a:ext cx="694944" cy="6949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350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31136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6344" y="288950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3364992"/>
            <a:ext cx="16459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Online Retail II dataset from UCI. Load workbook, check schema, validate column types.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40280" y="3493008"/>
            <a:ext cx="128016" cy="45720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68296" y="1170432"/>
            <a:ext cx="1828800" cy="4892040"/>
          </a:xfrm>
          <a:prstGeom prst="roundRect">
            <a:avLst>
              <a:gd name="adj" fmla="val 7500"/>
            </a:avLst>
          </a:prstGeom>
          <a:solidFill>
            <a:srgbClr val="0F2044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935224" y="1335024"/>
            <a:ext cx="694944" cy="6949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35224" y="13350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2231136"/>
            <a:ext cx="512064" cy="5120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423160" y="288950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459736" y="3364992"/>
            <a:ext cx="16459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duplicates, missing customer IDs, return rows, outlier values, and partial-period boundaries.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197096" y="3493008"/>
            <a:ext cx="128016" cy="45720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325112" y="1170432"/>
            <a:ext cx="1828800" cy="4892040"/>
          </a:xfrm>
          <a:prstGeom prst="roundRect">
            <a:avLst>
              <a:gd name="adj" fmla="val 7500"/>
            </a:avLst>
          </a:prstGeom>
          <a:solidFill>
            <a:srgbClr val="0F2044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92040" y="1335024"/>
            <a:ext cx="694944" cy="6949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92040" y="13350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231136"/>
            <a:ext cx="512064" cy="5120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379976" y="288950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4416552" y="3364992"/>
            <a:ext cx="16459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SQLite star schema with fact, dimension tables, indexes, and SQL reconciliation checks.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153912" y="3493008"/>
            <a:ext cx="128016" cy="45720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281928" y="1170432"/>
            <a:ext cx="1828800" cy="489204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203200" dist="50800" dir="2700000">
              <a:srgbClr val="02C39A">
                <a:alpha val="2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48856" y="1335024"/>
            <a:ext cx="694944" cy="6949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848856" y="13350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2231136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336792" y="288950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6373368" y="3364992"/>
            <a:ext cx="16459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EDA, RFM segmentation, cohort retention, revenue decile analysis, and hypothesis testing.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8110728" y="3493008"/>
            <a:ext cx="128016" cy="45720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238744" y="1170432"/>
            <a:ext cx="1828800" cy="4892040"/>
          </a:xfrm>
          <a:prstGeom prst="roundRect">
            <a:avLst>
              <a:gd name="adj" fmla="val 7500"/>
            </a:avLst>
          </a:prstGeom>
          <a:solidFill>
            <a:srgbClr val="0F2044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8805672" y="1335024"/>
            <a:ext cx="694944" cy="6949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805672" y="13350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112" y="2231136"/>
            <a:ext cx="512064" cy="51206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293608" y="288950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8330184" y="3364992"/>
            <a:ext cx="16459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with silhouette, Davies-Bouldin scoring, and 5-seed ARI stability validation.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10067544" y="3493008"/>
            <a:ext cx="128016" cy="45720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0195560" y="1170432"/>
            <a:ext cx="1828800" cy="4892040"/>
          </a:xfrm>
          <a:prstGeom prst="roundRect">
            <a:avLst>
              <a:gd name="adj" fmla="val 7500"/>
            </a:avLst>
          </a:prstGeom>
          <a:solidFill>
            <a:srgbClr val="0F2044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10762488" y="1335024"/>
            <a:ext cx="694944" cy="6949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10762488" y="13350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3928" y="2231136"/>
            <a:ext cx="512064" cy="51206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0250424" y="288950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500" dirty="0"/>
          </a:p>
        </p:txBody>
      </p:sp>
      <p:sp>
        <p:nvSpPr>
          <p:cNvPr id="48" name="Text 40"/>
          <p:cNvSpPr/>
          <p:nvPr/>
        </p:nvSpPr>
        <p:spPr>
          <a:xfrm>
            <a:off x="10287000" y="3364992"/>
            <a:ext cx="16459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Streamlit app, export Power BI dashboard, write report, and run 24-test CI validation pipeline.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11480" y="6236208"/>
            <a:ext cx="11338560" cy="402336"/>
          </a:xfrm>
          <a:prstGeom prst="roundRect">
            <a:avLst>
              <a:gd name="adj" fmla="val 22727"/>
            </a:avLst>
          </a:prstGeom>
          <a:solidFill>
            <a:srgbClr val="2C3E6B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40080" y="625449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principle: every output is reproducible, explainable, and directly useful for business decisions.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Validated KPIs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754880" cy="5120640"/>
          </a:xfrm>
          <a:prstGeom prst="roundRect">
            <a:avLst>
              <a:gd name="adj" fmla="val 2885"/>
            </a:avLst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3258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4434840" cy="402336"/>
          </a:xfrm>
          <a:prstGeom prst="roundRect">
            <a:avLst>
              <a:gd name="adj" fmla="val 13636"/>
            </a:avLst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65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77440" y="1865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4434840" cy="402336"/>
          </a:xfrm>
          <a:prstGeom prst="roundRect">
            <a:avLst>
              <a:gd name="adj" fmla="val 13636"/>
            </a:avLst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22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77440" y="2322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4434840" cy="402336"/>
          </a:xfrm>
          <a:prstGeom prst="roundRect">
            <a:avLst>
              <a:gd name="adj" fmla="val 13636"/>
            </a:avLst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77440" y="2779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82112"/>
            <a:ext cx="4434840" cy="402336"/>
          </a:xfrm>
          <a:prstGeom prst="roundRect">
            <a:avLst>
              <a:gd name="adj" fmla="val 13636"/>
            </a:avLst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36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lines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3236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1,033,036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4434840" cy="402336"/>
          </a:xfrm>
          <a:prstGeom prst="roundRect">
            <a:avLst>
              <a:gd name="adj" fmla="val 13636"/>
            </a:avLst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94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Completed-sales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1,007,913 lines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096512"/>
            <a:ext cx="4434840" cy="402336"/>
          </a:xfrm>
          <a:prstGeom prst="roundRect">
            <a:avLst>
              <a:gd name="adj" fmla="val 13636"/>
            </a:avLst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51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77440" y="4151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553712"/>
            <a:ext cx="4434840" cy="402336"/>
          </a:xfrm>
          <a:prstGeom prst="roundRect">
            <a:avLst>
              <a:gd name="adj" fmla="val 13636"/>
            </a:avLst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608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(raw)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77440" y="4608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5,942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10912"/>
            <a:ext cx="4434840" cy="402336"/>
          </a:xfrm>
          <a:prstGeom prst="roundRect">
            <a:avLst>
              <a:gd name="adj" fmla="val 13636"/>
            </a:avLst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065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77440" y="5065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Dec 2009 – 9 Dec 2011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468112"/>
            <a:ext cx="4434840" cy="402336"/>
          </a:xfrm>
          <a:prstGeom prst="roundRect">
            <a:avLst>
              <a:gd name="adj" fmla="val 13636"/>
            </a:avLst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522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</a:t>
            </a:r>
            <a:endParaRPr lang="en-US" sz="1050" dirty="0"/>
          </a:p>
        </p:txBody>
      </p:sp>
      <p:sp>
        <p:nvSpPr>
          <p:cNvPr id="100" name="Text Customer Clarify"/>
          <p:cNvSpPr/>
          <p:nvPr/>
        </p:nvSpPr>
        <p:spPr>
          <a:xfrm>
            <a:off x="548640" y="59201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identified customers used for RFM &amp; clustering: 5,878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40680" y="1170432"/>
            <a:ext cx="3127248" cy="2395728"/>
          </a:xfrm>
          <a:prstGeom prst="roundRect">
            <a:avLst>
              <a:gd name="adj" fmla="val 610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57416" y="1170432"/>
            <a:ext cx="493776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139903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GBP 20.48M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5440680" y="217627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completed-sales value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732520" y="1170432"/>
            <a:ext cx="3127248" cy="2395728"/>
          </a:xfrm>
          <a:prstGeom prst="roundRect">
            <a:avLst>
              <a:gd name="adj" fmla="val 610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049256" y="1170432"/>
            <a:ext cx="493776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1399032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GBP 510.92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8732520" y="217627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40680" y="3749040"/>
            <a:ext cx="3127248" cy="2395728"/>
          </a:xfrm>
          <a:prstGeom prst="roundRect">
            <a:avLst>
              <a:gd name="adj" fmla="val 610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57416" y="3749040"/>
            <a:ext cx="493776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397764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GBP 17.37M</a:t>
            </a:r>
            <a:endParaRPr lang="en-US" sz="2700" dirty="0"/>
          </a:p>
        </p:txBody>
      </p:sp>
      <p:sp>
        <p:nvSpPr>
          <p:cNvPr id="46" name="Text 44"/>
          <p:cNvSpPr/>
          <p:nvPr/>
        </p:nvSpPr>
        <p:spPr>
          <a:xfrm>
            <a:off x="5440680" y="475488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identified-customer revenue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732520" y="3749040"/>
            <a:ext cx="3127248" cy="2395728"/>
          </a:xfrm>
          <a:prstGeom prst="roundRect">
            <a:avLst>
              <a:gd name="adj" fmla="val 610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049256" y="3749040"/>
            <a:ext cx="493776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32520" y="397764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4,255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8732520" y="475488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400" y="3200400"/>
            <a:ext cx="3657600" cy="36576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Customer Value Evidence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6400800" cy="4754880"/>
          </a:xfrm>
          <a:prstGeom prst="roundRect">
            <a:avLst>
              <a:gd name="adj" fmla="val 2885"/>
            </a:avLst>
          </a:prstGeom>
          <a:solidFill>
            <a:srgbClr val="0F204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2984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 — Complete Months Only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627632"/>
          <a:ext cx="6263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687568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 SQL monthly revenue output | Dec 2011 excluded — partial month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995160" y="1170432"/>
            <a:ext cx="4800600" cy="4754880"/>
          </a:xfrm>
          <a:prstGeom prst="roundRect">
            <a:avLst>
              <a:gd name="adj" fmla="val 2885"/>
            </a:avLst>
          </a:prstGeom>
          <a:solidFill>
            <a:srgbClr val="0F2044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78040" y="1298448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Revenue Share by Value Decile</a:t>
            </a:r>
            <a:endParaRPr lang="en-US" sz="115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7040880" y="1755648"/>
          <a:ext cx="4663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7040880" y="568756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of customers = 62.5% of all revenue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 —  RFM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6400800" cy="4800600"/>
          </a:xfrm>
          <a:prstGeom prst="roundRect">
            <a:avLst>
              <a:gd name="adj" fmla="val 2857"/>
            </a:avLst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984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Count by RFM Segment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627632"/>
          <a:ext cx="6263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995160" y="1170432"/>
            <a:ext cx="4800600" cy="1060704"/>
          </a:xfrm>
          <a:prstGeom prst="roundRect">
            <a:avLst>
              <a:gd name="adj" fmla="val 103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05472" y="12618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607040" y="124358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1,290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205472" y="16459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Highest-value, most recent buyers — protect first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95160" y="2359152"/>
            <a:ext cx="4800600" cy="1060704"/>
          </a:xfrm>
          <a:prstGeom prst="roundRect">
            <a:avLst>
              <a:gd name="adj" fmla="val 10345"/>
            </a:avLst>
          </a:prstGeom>
          <a:solidFill>
            <a:srgbClr val="0F2044"/>
          </a:solidFill>
          <a:ln w="12700">
            <a:solidFill>
              <a:srgbClr val="7A9BB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05472" y="2450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Hibernating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607040" y="243230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205472" y="28346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as many as Champions — reactivation priority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95160" y="3547872"/>
            <a:ext cx="4800600" cy="1060704"/>
          </a:xfrm>
          <a:prstGeom prst="roundRect">
            <a:avLst>
              <a:gd name="adj" fmla="val 10345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05472" y="36393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Risk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607040" y="362102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205472" y="40233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engagement — urgent campaign needed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95160" y="4736592"/>
            <a:ext cx="4800600" cy="1060704"/>
          </a:xfrm>
          <a:prstGeom prst="roundRect">
            <a:avLst>
              <a:gd name="adj" fmla="val 1034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05472" y="48280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0607040" y="480974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656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205472" y="52120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buyers — cross-sell and upsell targets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95160" y="6016752"/>
            <a:ext cx="4800600" cy="530352"/>
          </a:xfrm>
          <a:prstGeom prst="roundRect">
            <a:avLst>
              <a:gd name="adj" fmla="val 17241"/>
            </a:avLst>
          </a:prstGeom>
          <a:solidFill>
            <a:srgbClr val="0A1628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78040" y="6053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gives business-friendly labels for campaign targeting and customer retention actions.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400" y="3200400"/>
            <a:ext cx="3657600" cy="3657600"/>
          </a:xfrm>
          <a:prstGeom prst="ellipse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ANALYTICS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Retention Monitoring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7315200" cy="5212080"/>
          </a:xfrm>
          <a:prstGeom prst="roundRect">
            <a:avLst>
              <a:gd name="adj" fmla="val 2632"/>
            </a:avLst>
          </a:prstGeom>
          <a:solidFill>
            <a:srgbClr val="0F204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Cohort Retention  (December 2011 Is Partial)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627632"/>
          <a:ext cx="7178040" cy="4498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909560" y="1170432"/>
            <a:ext cx="3886200" cy="5212080"/>
          </a:xfrm>
          <a:prstGeom prst="roundRect">
            <a:avLst>
              <a:gd name="adj" fmla="val 3529"/>
            </a:avLst>
          </a:prstGeom>
          <a:solidFill>
            <a:srgbClr val="0F204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19872" y="13258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19872" y="184708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181051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Month 0→1 drop: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retention loss happens in the first month — post-purchase engagement is highest priority.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19872" y="283464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2798064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Tracks cohorts: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customer return behaviour by acquisition month, not just overall averages.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19872" y="382219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0" y="378561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Complements RFM: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time dimension to recency data — shows retention movement over months.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19872" y="4809744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0" y="477316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Action trigger: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post-purchase email or offer flows based on Month 1 retention evidence.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09560" y="5961888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59893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72.39% of customers make ≥2 purchases — strong base for retention strategy.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RULE-BASED SEGMENTS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Customer Clustering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743200" cy="356616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 w="22860">
            <a:solidFill>
              <a:srgbClr val="02C39A"/>
            </a:solidFill>
            <a:prstDash val="solid"/>
          </a:ln>
          <a:effectLst>
            <a:outerShdw sx="100000" sy="100000" kx="0" ky="0" algn="bl" rotWithShape="0" blurRad="203200" dist="50800" dir="2700000">
              <a:srgbClr val="02C39A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29844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Champions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847088"/>
            <a:ext cx="16459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5681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1,204 customers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20.48% of 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62102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21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170432"/>
            <a:ext cx="2743200" cy="35661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0160">
            <a:solidFill>
              <a:srgbClr val="7A9BB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47288" y="129844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Growth Customers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86200" y="1847088"/>
            <a:ext cx="1645920" cy="36576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95681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337560" y="2633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1,261 customers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21.45% of 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94760" y="362102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3621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170432"/>
            <a:ext cx="2743200" cy="3566160"/>
          </a:xfrm>
          <a:prstGeom prst="roundRect">
            <a:avLst>
              <a:gd name="adj" fmla="val 6000"/>
            </a:avLst>
          </a:prstGeom>
          <a:solidFill>
            <a:srgbClr val="1A3560"/>
          </a:solidFill>
          <a:ln w="10160">
            <a:solidFill>
              <a:srgbClr val="7A9BB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73368" y="129844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Lapsed Established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12280" y="1847088"/>
            <a:ext cx="1645920" cy="36576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95681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16.30%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63640" y="2633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1,455 customers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24.74% of base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0840" y="362102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621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89720" y="1170432"/>
            <a:ext cx="2743200" cy="3566160"/>
          </a:xfrm>
          <a:prstGeom prst="roundRect">
            <a:avLst>
              <a:gd name="adj" fmla="val 6000"/>
            </a:avLst>
          </a:prstGeom>
          <a:solidFill>
            <a:srgbClr val="2C3E6B"/>
          </a:solidFill>
          <a:ln w="10160">
            <a:solidFill>
              <a:srgbClr val="7A9BB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99448" y="129844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Dormant Low-Value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738360" y="1847088"/>
            <a:ext cx="1645920" cy="36576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195681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3.56%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189720" y="2633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89720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1,958 customers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8972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33.31% of base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46920" y="362102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6920" y="3621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828032"/>
            <a:ext cx="7022592" cy="1554480"/>
          </a:xfrm>
          <a:prstGeom prst="roundRect">
            <a:avLst>
              <a:gd name="adj" fmla="val 8235"/>
            </a:avLst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graphicFrame>
        <p:nvGraphicFramePr>
          <p:cNvPr id="43" name="Chart 0" descr=""/>
          <p:cNvGraphicFramePr/>
          <p:nvPr/>
        </p:nvGraphicFramePr>
        <p:xfrm>
          <a:off x="457200" y="4846320"/>
          <a:ext cx="32004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4" name="Shape 41"/>
          <p:cNvSpPr/>
          <p:nvPr/>
        </p:nvSpPr>
        <p:spPr>
          <a:xfrm>
            <a:off x="7543800" y="4828032"/>
            <a:ext cx="4251960" cy="1554480"/>
          </a:xfrm>
          <a:prstGeom prst="roundRect">
            <a:avLst>
              <a:gd name="adj" fmla="val 8235"/>
            </a:avLst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7772400" y="4956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Quality Metrics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772400" y="532180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K=4  |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Silhouette: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0.366  |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Davies-Bouldin: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5-seed ARI: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</a:t>
            </a:r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Highly stable across all seeds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3200400" cy="32004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VALIDATION WAS IMPORTANT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Findings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6400800" cy="5212080"/>
          </a:xfrm>
          <a:prstGeom prst="roundRect">
            <a:avLst>
              <a:gd name="adj" fmla="val 2632"/>
            </a:avLst>
          </a:prstGeom>
          <a:solidFill>
            <a:srgbClr val="0F2044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2984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Volume and Quality Profile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627632"/>
          <a:ext cx="6263640" cy="4498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995160" y="1170432"/>
            <a:ext cx="4800600" cy="5212080"/>
          </a:xfrm>
          <a:prstGeom prst="roundRect">
            <a:avLst>
              <a:gd name="adj" fmla="val 2857"/>
            </a:avLst>
          </a:prstGeom>
          <a:solidFill>
            <a:srgbClr val="0F2044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205472" y="13258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Controls Used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205472" y="1847088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16368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16368" y="208483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34,335 exact duplicate transaction rows identified and removed before KPI calculation.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05472" y="2688336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16368" y="2670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separation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16368" y="29260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22,951 return/cancellation rows separated — never mixed with completed sales metrics.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205472" y="3529584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16368" y="3511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Anonymous rows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516368" y="376732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243,007 rows (22.77%) retained for aggregate sales but excluded from customer-level RFM.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205472" y="4370832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16368" y="4352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516368" y="460857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2011 flagged as partial (ends 9 Dec) — excluded from month-over-month comparisons.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05472" y="5212080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16368" y="5193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16368" y="54498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outputs validated against raw source totals before publishing KPIs.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995160" y="5961888"/>
            <a:ext cx="4800600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59893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analysis avoids misleading KPIs and makes the dashboard evidence more reliable.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FROM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11338560" cy="987552"/>
          </a:xfrm>
          <a:prstGeom prst="roundRect">
            <a:avLst>
              <a:gd name="adj" fmla="val 1296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298448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98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37160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01952" y="12618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 High-Value Customers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901952" y="1591056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High-Value Champions cluster (20.48% of customers, 74% of revenue) with loyalty recognition, priority support, and exclusive retention offers.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2249424"/>
            <a:ext cx="11338560" cy="987552"/>
          </a:xfrm>
          <a:prstGeom prst="roundRect">
            <a:avLst>
              <a:gd name="adj" fmla="val 1296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37744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245059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01952" y="23408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Inactive Customers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901952" y="2670048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1,282 Hibernating and 846 At Risk customers with reactivation campaigns using low-cost email or offer tests before heavier marketing spend.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11480" y="3328416"/>
            <a:ext cx="11338560" cy="987552"/>
          </a:xfrm>
          <a:prstGeom prst="roundRect">
            <a:avLst>
              <a:gd name="adj" fmla="val 1296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" y="3456432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34564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3529584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01952" y="34198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Retention Triggers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901952" y="3749040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post-purchase email or offer flows based on the Month 1 cohort retention drop — early re-engagement prevents permanent churn.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11480" y="4407408"/>
            <a:ext cx="11338560" cy="987552"/>
          </a:xfrm>
          <a:prstGeom prst="roundRect">
            <a:avLst>
              <a:gd name="adj" fmla="val 1296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66928" y="4535424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66928" y="45354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4608576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901952" y="4498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Customer Identification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901952" y="4828032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22.77% anonymous rows limit segmentation accuracy. Reducing this strengthens RFM, cohort, and future lifetime-value analysis.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11480" y="5486400"/>
            <a:ext cx="11338560" cy="987552"/>
          </a:xfrm>
          <a:prstGeom prst="roundRect">
            <a:avLst>
              <a:gd name="adj" fmla="val 1296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66928" y="5614416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66928" y="5614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5687568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901952" y="5577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Quality Dashboards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1901952" y="5907024"/>
            <a:ext cx="9646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returns (7.14% of sales value), duplicates, and partial-period warnings automatically before every monthly reporting cycle.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cover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400" y="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3200400" cy="32004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Assets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5715000" cy="2578608"/>
          </a:xfrm>
          <a:prstGeom prst="roundRect">
            <a:avLst>
              <a:gd name="adj" fmla="val 5674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53312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3350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88720" y="17190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View GitHub Repository ↗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28600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" y="22494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&amp; scripts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" y="265176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" y="26151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automated tests passing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2648" y="301752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" y="2980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requirements, CI config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2648" y="33832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2104" y="3346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 and report outputs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9360" y="1170432"/>
            <a:ext cx="5715000" cy="2578608"/>
          </a:xfrm>
          <a:prstGeom prst="roundRect">
            <a:avLst>
              <a:gd name="adj" fmla="val 5674"/>
            </a:avLst>
          </a:prstGeom>
          <a:solidFill>
            <a:srgbClr val="1A3560"/>
          </a:solidFill>
          <a:ln w="12700">
            <a:solidFill>
              <a:srgbClr val="7A9BB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353312"/>
            <a:ext cx="438912" cy="4389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86600" y="13350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Streamlit App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86600" y="17190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/>
              </a:rPr>
              <a:t>Open Live Demo ↗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10528" y="228600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29984" y="22494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deployed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510528" y="265176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29984" y="26151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Portfolio-style project showcase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510528" y="301752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29984" y="2980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browser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510528" y="33832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729984" y="3346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from GitHub README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11480" y="3913632"/>
            <a:ext cx="5715000" cy="2578608"/>
          </a:xfrm>
          <a:prstGeom prst="roundRect">
            <a:avLst>
              <a:gd name="adj" fmla="val 5674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096512"/>
            <a:ext cx="438912" cy="43891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188720" y="40782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1188720" y="4462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16-page formal PDF/DOCX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12648" y="502920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32104" y="49926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Cover, TOC, Acknowledgements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12648" y="539496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2104" y="53583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methodology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12648" y="576072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32104" y="5724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RFM, retention, clustering results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12648" y="61264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32104" y="6089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live links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6309360" y="3913632"/>
            <a:ext cx="5715000" cy="2578608"/>
          </a:xfrm>
          <a:prstGeom prst="roundRect">
            <a:avLst>
              <a:gd name="adj" fmla="val 5674"/>
            </a:avLst>
          </a:prstGeom>
          <a:solidFill>
            <a:srgbClr val="1A3560"/>
          </a:solidFill>
          <a:ln w="12700">
            <a:solidFill>
              <a:srgbClr val="7A9BB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096512"/>
            <a:ext cx="438912" cy="438912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086600" y="40782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47" name="Text 41"/>
          <p:cNvSpPr/>
          <p:nvPr/>
        </p:nvSpPr>
        <p:spPr>
          <a:xfrm>
            <a:off x="7086600" y="4462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visual outputs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6510528" y="502920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729984" y="49926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customer KPI pages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6510528" y="539496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729984" y="53583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and decile views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6510528" y="576072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729984" y="5724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screenshot exports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6510528" y="612648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729984" y="6089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Dashboard-ready CSV data</a:t>
            </a:r>
            <a:endParaRPr lang="en-US" sz="1050" dirty="0"/>
          </a:p>
        </p:txBody>
      </p:sp>
      <p:sp>
        <p:nvSpPr>
          <p:cNvPr id="56" name="Text 50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905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62800" y="1828800"/>
            <a:ext cx="5029200" cy="50292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800" y="0"/>
            <a:ext cx="2743200" cy="27432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1645920" cy="64008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7498080" cy="2633472"/>
          </a:xfrm>
          <a:prstGeom prst="roundRect">
            <a:avLst>
              <a:gd name="adj" fmla="val 5556"/>
            </a:avLst>
          </a:prstGeom>
          <a:solidFill>
            <a:srgbClr val="0F2044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591056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72768"/>
            <a:ext cx="6748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converts raw retail transactions into validated KPIs, SQL outputs, EDA, RFM segmentation, cohort retention, and K-Means clustering.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176272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57984"/>
            <a:ext cx="6748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GBP 20.48M in completed sales  ·  5,878 identified customers  ·  72.39% repeat customer rate.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761488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43200"/>
            <a:ext cx="6748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Champions (20.48% of customers) contribute 74% of revenue — confirmed independently by both RFM and K-Means.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34670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328416"/>
            <a:ext cx="6748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learning: analytics value depends on disciplined data-quality validation as much as on modelling and visualisation.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3611880" cy="1719072"/>
          </a:xfrm>
          <a:prstGeom prst="roundRect">
            <a:avLst>
              <a:gd name="adj" fmla="val 7447"/>
            </a:avLst>
          </a:prstGeom>
          <a:solidFill>
            <a:srgbClr val="1A3560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334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View GitHub Repository 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4206240"/>
            <a:ext cx="3657600" cy="1719072"/>
          </a:xfrm>
          <a:prstGeom prst="roundRect">
            <a:avLst>
              <a:gd name="adj" fmla="val 7447"/>
            </a:avLst>
          </a:prstGeom>
          <a:solidFill>
            <a:srgbClr val="1A3560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17136" y="4334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Streamlit Demo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17136" y="4663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/>
              </a:rPr>
              <a:t>Open Live Demo 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4315968"/>
            <a:ext cx="475488" cy="475488"/>
          </a:xfrm>
          <a:prstGeom prst="ellipse">
            <a:avLst/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4425696"/>
            <a:ext cx="256032" cy="25603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942832" y="4315968"/>
            <a:ext cx="475488" cy="475488"/>
          </a:xfrm>
          <a:prstGeom prst="ellipse">
            <a:avLst/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4425696"/>
            <a:ext cx="256032" cy="25603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9564624" y="4315968"/>
            <a:ext cx="475488" cy="475488"/>
          </a:xfrm>
          <a:prstGeom prst="ellipse">
            <a:avLst/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4425696"/>
            <a:ext cx="256032" cy="25603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10186416" y="4315968"/>
            <a:ext cx="475488" cy="475488"/>
          </a:xfrm>
          <a:prstGeom prst="ellipse">
            <a:avLst/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4425696"/>
            <a:ext cx="256032" cy="25603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0808208" y="4315968"/>
            <a:ext cx="475488" cy="475488"/>
          </a:xfrm>
          <a:prstGeom prst="ellipse">
            <a:avLst/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7936" y="4425696"/>
            <a:ext cx="256032" cy="25603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1430000" y="4315968"/>
            <a:ext cx="475488" cy="475488"/>
          </a:xfrm>
          <a:prstGeom prst="ellipse">
            <a:avLst/>
          </a:prstGeom>
          <a:solidFill>
            <a:srgbClr val="2C3E6B"/>
          </a:solidFill>
          <a:ln w="10160">
            <a:solidFill>
              <a:srgbClr val="028090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9728" y="4425696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229600" y="50292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6" name="Text 28"/>
          <p:cNvSpPr/>
          <p:nvPr/>
        </p:nvSpPr>
        <p:spPr>
          <a:xfrm>
            <a:off x="8229600" y="568756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Pothamsetti Venkata Rama Krishna Reddy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23CS002715  ·  SPSU Udaipur  ·  DMV CoreTech  ·  June – July 2026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365760" y="66019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CoreTech Data Science Internship  |  Pothamsetti Venkata Rama Krishna Reddy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11567160" y="6537960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1156716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12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Intelligence and Retention Analytics</dc:title>
  <dc:subject>PptxGenJS Presentation</dc:subject>
  <dc:creator>Pothamsetti Venkata Rama Krishna Reddy</dc:creator>
  <cp:lastModifiedBy>Pothamsetti Venkata Rama Krishna Reddy</cp:lastModifiedBy>
  <cp:revision>1</cp:revision>
  <dcterms:created xsi:type="dcterms:W3CDTF">2026-06-28T14:31:48Z</dcterms:created>
  <dcterms:modified xsi:type="dcterms:W3CDTF">2026-06-28T14:31:48Z</dcterms:modified>
</cp:coreProperties>
</file>